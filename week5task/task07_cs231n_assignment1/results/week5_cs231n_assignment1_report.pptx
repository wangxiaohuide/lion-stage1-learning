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8"/>
    <p:sldId id="270" r:id="rId19"/>
    <p:sldId id="271" r:id="rId20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ableStyles" Target="tableStyles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9601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2A2E34"/>
                </a:solidFill>
                <a:latin typeface="微软雅黑" panose="020B0503020204020204" charset="-122"/>
              </a:rPr>
              <a:t>Week5 CS231n Assignment 1</a:t>
            </a:r>
            <a:endParaRPr sz="3400" b="1">
              <a:solidFill>
                <a:srgbClr val="2A2E34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58368" y="1600200"/>
            <a:ext cx="9326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2A2E34"/>
                </a:solidFill>
                <a:latin typeface="微软雅黑" panose="020B0503020204020204" charset="-122"/>
              </a:rPr>
              <a:t>CIFAR-10 图像分类本地复现实验：kNN、Softmax、TwoLayerNet</a:t>
            </a:r>
            <a:endParaRPr sz="1800" b="0">
              <a:solidFill>
                <a:srgbClr val="2A2E34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58368" y="2331720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4F8968"/>
                </a:solidFill>
                <a:latin typeface="微软雅黑" panose="020B0503020204020204" charset="-122"/>
              </a:rPr>
              <a:t>最佳测试准确率：TwoLayerNet / N49000 / 0.493</a:t>
            </a:r>
            <a:endParaRPr sz="2000" b="1">
              <a:solidFill>
                <a:srgbClr val="4F8968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58368" y="27889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2A2E34"/>
                </a:solidFill>
                <a:latin typeface="微软雅黑" panose="020B0503020204020204" charset="-122"/>
              </a:rPr>
              <a:t>数据规模：10k / 20k / 49k 训练样本；验证与测试各 1k</a:t>
            </a:r>
            <a:endParaRPr sz="1500" b="0">
              <a:solidFill>
                <a:srgbClr val="2A2E34"/>
              </a:solidFill>
              <a:latin typeface="微软雅黑" panose="020B0503020204020204" charset="-122"/>
            </a:endParaRPr>
          </a:p>
        </p:txBody>
      </p:sp>
      <p:sp>
        <p:nvSpPr>
          <p:cNvPr id="6" name="TextBox 3"/>
          <p:cNvSpPr txBox="1"/>
          <p:nvPr/>
        </p:nvSpPr>
        <p:spPr>
          <a:xfrm>
            <a:off x="658495" y="3931920"/>
            <a:ext cx="7809230" cy="1383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>
                <a:latin typeface="微软雅黑" panose="020B0503020204020204" charset="-122"/>
              </a:defRPr>
            </a:pPr>
            <a:r>
              <a:t>CS231n A1 关注图像分类的完整工程链路</a:t>
            </a:r>
          </a:p>
          <a:p>
            <a:pPr>
              <a:spcAft>
                <a:spcPts val="800"/>
              </a:spcAft>
              <a:defRPr sz="1600">
                <a:latin typeface="微软雅黑" panose="020B0503020204020204" charset="-122"/>
              </a:defRPr>
            </a:pPr>
            <a:r>
              <a:t>从 kNN 到 Softmax，再到两层神经网络</a:t>
            </a:r>
          </a:p>
          <a:p>
            <a:pPr>
              <a:spcAft>
                <a:spcPts val="800"/>
              </a:spcAft>
              <a:defRPr sz="1600">
                <a:latin typeface="微软雅黑" panose="020B0503020204020204" charset="-122"/>
              </a:defRPr>
            </a:pPr>
            <a:r>
              <a:t>核心学习点：数据划分、loss、gradient、regularization、hyperparameter tuning</a:t>
            </a:r>
          </a:p>
          <a:p>
            <a:pPr>
              <a:spcAft>
                <a:spcPts val="800"/>
              </a:spcAft>
              <a:defRPr sz="1600">
                <a:latin typeface="微软雅黑" panose="020B0503020204020204" charset="-122"/>
              </a:defRPr>
            </a:p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286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F6F82"/>
                </a:solidFill>
                <a:latin typeface="微软雅黑" panose="020B0503020204020204" charset="-122"/>
              </a:rPr>
              <a:t>DATASET</a:t>
            </a:r>
            <a:endParaRPr sz="900" b="1">
              <a:solidFill>
                <a:srgbClr val="5F6F82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424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E2328"/>
                </a:solidFill>
                <a:latin typeface="微软雅黑" panose="020B0503020204020204" charset="-122"/>
              </a:rPr>
              <a:t>CIFAR-10：10 类 32×32 彩色图像</a:t>
            </a:r>
            <a:endParaRPr sz="2400" b="1">
              <a:solidFill>
                <a:srgbClr val="1E2328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1143000"/>
            <a:ext cx="47548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>
                <a:latin typeface="微软雅黑" panose="020B0503020204020204" charset="-122"/>
              </a:defRPr>
            </a:pPr>
            <a:r>
              <a:t>原始数据：50,000 train + 10,000 test</a:t>
            </a:r>
          </a:p>
          <a:p>
            <a:pPr>
              <a:spcAft>
                <a:spcPts val="800"/>
              </a:spcAft>
              <a:defRPr sz="1600">
                <a:latin typeface="微软雅黑" panose="020B0503020204020204" charset="-122"/>
              </a:defRPr>
            </a:pPr>
            <a:r>
              <a:t>官方 A1 常用划分：49,000 train + 1,000 val</a:t>
            </a:r>
          </a:p>
          <a:p>
            <a:pPr>
              <a:spcAft>
                <a:spcPts val="800"/>
              </a:spcAft>
              <a:defRPr sz="1600">
                <a:latin typeface="微软雅黑" panose="020B0503020204020204" charset="-122"/>
              </a:defRPr>
            </a:pPr>
            <a:r>
              <a:t>本地复现实验对比：N10000、N20000、N49000</a:t>
            </a:r>
          </a:p>
          <a:p>
            <a:pPr>
              <a:spcAft>
                <a:spcPts val="800"/>
              </a:spcAft>
              <a:defRPr sz="1600">
                <a:latin typeface="微软雅黑" panose="020B0503020204020204" charset="-122"/>
              </a:defRPr>
            </a:pPr>
            <a:r>
              <a:t>快速评估阶段使用 1,000 张 test 以控制运行时间</a:t>
            </a:r>
          </a:p>
        </p:txBody>
      </p:sp>
      <p:pic>
        <p:nvPicPr>
          <p:cNvPr id="5" name="Picture 4" descr="data_scale_effec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143000"/>
            <a:ext cx="5669280" cy="374903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286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F6F82"/>
                </a:solidFill>
                <a:latin typeface="微软雅黑" panose="020B0503020204020204" charset="-122"/>
              </a:rPr>
              <a:t>WORKFLOW</a:t>
            </a:r>
            <a:endParaRPr sz="900" b="1">
              <a:solidFill>
                <a:srgbClr val="5F6F82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424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E2328"/>
                </a:solidFill>
                <a:latin typeface="微软雅黑" panose="020B0503020204020204" charset="-122"/>
              </a:rPr>
              <a:t>实验流程：训练、调参、验证、测试与可视化</a:t>
            </a:r>
            <a:endParaRPr sz="2400" b="1">
              <a:solidFill>
                <a:srgbClr val="1E2328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4009390" cy="17329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>
                <a:latin typeface="微软雅黑" panose="020B0503020204020204" charset="-122"/>
              </a:defRPr>
            </a:pPr>
            <a:r>
              <a:t>1. 加载 CIFAR-10 并做 train/val/test split</a:t>
            </a:r>
          </a:p>
          <a:p>
            <a:pPr>
              <a:spcAft>
                <a:spcPts val="800"/>
              </a:spcAft>
              <a:defRPr sz="1600">
                <a:latin typeface="微软雅黑" panose="020B0503020204020204" charset="-122"/>
              </a:defRPr>
            </a:pPr>
            <a:r>
              <a:t>2. 训练 kNN、Softmax、TwoLayerNet</a:t>
            </a:r>
          </a:p>
          <a:p>
            <a:pPr>
              <a:spcAft>
                <a:spcPts val="800"/>
              </a:spcAft>
              <a:defRPr sz="1600">
                <a:latin typeface="微软雅黑" panose="020B0503020204020204" charset="-122"/>
              </a:defRPr>
            </a:pPr>
            <a:r>
              <a:t>3. 在验证集上选择超参数</a:t>
            </a:r>
          </a:p>
          <a:p>
            <a:pPr>
              <a:spcAft>
                <a:spcPts val="800"/>
              </a:spcAft>
              <a:defRPr sz="1600">
                <a:latin typeface="微软雅黑" panose="020B0503020204020204" charset="-122"/>
              </a:defRPr>
            </a:pPr>
            <a:r>
              <a:t>4. 用测试集报告泛化性能</a:t>
            </a:r>
          </a:p>
          <a:p>
            <a:pPr>
              <a:spcAft>
                <a:spcPts val="800"/>
              </a:spcAft>
              <a:defRPr sz="1600">
                <a:latin typeface="微软雅黑" panose="020B0503020204020204" charset="-122"/>
              </a:defRPr>
            </a:p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286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F6F82"/>
                </a:solidFill>
                <a:latin typeface="微软雅黑" panose="020B0503020204020204" charset="-122"/>
              </a:rPr>
              <a:t>KNN</a:t>
            </a:r>
            <a:endParaRPr sz="900" b="1">
              <a:solidFill>
                <a:srgbClr val="5F6F82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424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E2328"/>
                </a:solidFill>
                <a:latin typeface="微软雅黑" panose="020B0503020204020204" charset="-122"/>
              </a:rPr>
              <a:t>kNN：简单但被原始像素距离限制</a:t>
            </a:r>
            <a:endParaRPr sz="2400" b="1">
              <a:solidFill>
                <a:srgbClr val="1E2328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45720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>
                <a:latin typeface="微软雅黑" panose="020B0503020204020204" charset="-122"/>
              </a:defRPr>
            </a:pPr>
            <a:r>
              <a:t>N49000 最佳 k=5</a:t>
            </a:r>
          </a:p>
          <a:p>
            <a:pPr>
              <a:spcAft>
                <a:spcPts val="800"/>
              </a:spcAft>
              <a:defRPr sz="1600">
                <a:latin typeface="微软雅黑" panose="020B0503020204020204" charset="-122"/>
              </a:defRPr>
            </a:pPr>
            <a:r>
              <a:t>验证准确率 0.326，测试准确率 0.348</a:t>
            </a:r>
          </a:p>
          <a:p>
            <a:pPr>
              <a:spcAft>
                <a:spcPts val="800"/>
              </a:spcAft>
              <a:defRPr sz="1600">
                <a:latin typeface="微软雅黑" panose="020B0503020204020204" charset="-122"/>
              </a:defRPr>
            </a:pPr>
            <a:r>
              <a:t>几乎没有训练成本，但推理要比较所有训练样本</a:t>
            </a:r>
          </a:p>
          <a:p>
            <a:pPr>
              <a:spcAft>
                <a:spcPts val="800"/>
              </a:spcAft>
              <a:defRPr sz="1600">
                <a:latin typeface="微软雅黑" panose="020B0503020204020204" charset="-122"/>
              </a:defRPr>
            </a:pPr>
            <a:r>
              <a:t>在高维原始像素空间中，L2 距离不稳定</a:t>
            </a:r>
          </a:p>
        </p:txBody>
      </p:sp>
      <p:pic>
        <p:nvPicPr>
          <p:cNvPr id="5" name="Picture 4" descr="runtime_compariso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0" y="1188720"/>
            <a:ext cx="594360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286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F6F82"/>
                </a:solidFill>
                <a:latin typeface="微软雅黑" panose="020B0503020204020204" charset="-122"/>
              </a:rPr>
              <a:t>SOFTMAX</a:t>
            </a:r>
            <a:endParaRPr sz="900" b="1">
              <a:solidFill>
                <a:srgbClr val="5F6F82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424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E2328"/>
                </a:solidFill>
                <a:latin typeface="微软雅黑" panose="020B0503020204020204" charset="-122"/>
              </a:rPr>
              <a:t>Softmax：线性分类器受益于调参和更多数据</a:t>
            </a:r>
            <a:endParaRPr sz="2400" b="1">
              <a:solidFill>
                <a:srgbClr val="1E2328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143000"/>
            <a:ext cx="41148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>
                <a:latin typeface="微软雅黑" panose="020B0503020204020204" charset="-122"/>
              </a:defRPr>
            </a:pPr>
            <a:r>
              <a:t>N49000 最佳 lr=5.0e-07</a:t>
            </a:r>
          </a:p>
          <a:p>
            <a:pPr>
              <a:spcAft>
                <a:spcPts val="800"/>
              </a:spcAft>
              <a:defRPr sz="1600">
                <a:latin typeface="微软雅黑" panose="020B0503020204020204" charset="-122"/>
              </a:defRPr>
            </a:pPr>
            <a:r>
              <a:t>最佳 reg=5000</a:t>
            </a:r>
          </a:p>
          <a:p>
            <a:pPr>
              <a:spcAft>
                <a:spcPts val="800"/>
              </a:spcAft>
              <a:defRPr sz="1600">
                <a:latin typeface="微软雅黑" panose="020B0503020204020204" charset="-122"/>
              </a:defRPr>
            </a:pPr>
            <a:r>
              <a:t>验证准确率 0.383，测试准确率 0.359</a:t>
            </a:r>
          </a:p>
          <a:p>
            <a:pPr>
              <a:spcAft>
                <a:spcPts val="800"/>
              </a:spcAft>
              <a:defRPr sz="1600">
                <a:latin typeface="微软雅黑" panose="020B0503020204020204" charset="-122"/>
              </a:defRPr>
            </a:pPr>
            <a:r>
              <a:t>线性决策边界仍限制了上限</a:t>
            </a:r>
          </a:p>
        </p:txBody>
      </p:sp>
      <p:pic>
        <p:nvPicPr>
          <p:cNvPr id="5" name="Picture 4" descr="softmax_hyperparam_heatma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2040" y="1051560"/>
            <a:ext cx="658368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286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F6F82"/>
                </a:solidFill>
                <a:latin typeface="微软雅黑" panose="020B0503020204020204" charset="-122"/>
              </a:rPr>
              <a:t>TWO-LAYER NET</a:t>
            </a:r>
            <a:endParaRPr sz="900" b="1">
              <a:solidFill>
                <a:srgbClr val="5F6F82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424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E2328"/>
                </a:solidFill>
                <a:latin typeface="微软雅黑" panose="020B0503020204020204" charset="-122"/>
              </a:rPr>
              <a:t>TwoLayerNet：非线性隐藏层带来明显提升</a:t>
            </a:r>
            <a:endParaRPr sz="2400" b="1">
              <a:solidFill>
                <a:srgbClr val="1E2328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78992"/>
            <a:ext cx="44805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400">
                <a:latin typeface="微软雅黑" panose="020B0503020204020204" charset="-122"/>
              </a:defRPr>
            </a:pPr>
            <a:r>
              <a:t>N49000 最佳验证配置：H=100, lr=2.5e-04, reg=0.05</a:t>
            </a:r>
          </a:p>
          <a:p>
            <a:pPr>
              <a:spcAft>
                <a:spcPts val="800"/>
              </a:spcAft>
              <a:defRPr sz="1400">
                <a:latin typeface="微软雅黑" panose="020B0503020204020204" charset="-122"/>
              </a:defRPr>
            </a:pPr>
            <a:r>
              <a:t>验证准确率 0.515</a:t>
            </a:r>
          </a:p>
          <a:p>
            <a:pPr>
              <a:spcAft>
                <a:spcPts val="800"/>
              </a:spcAft>
              <a:defRPr sz="1400">
                <a:latin typeface="微软雅黑" panose="020B0503020204020204" charset="-122"/>
              </a:defRPr>
            </a:pPr>
            <a:r>
              <a:t>隐藏层 + ReLU 学习非线性特征组合</a:t>
            </a:r>
          </a:p>
          <a:p>
            <a:pPr>
              <a:spcAft>
                <a:spcPts val="800"/>
              </a:spcAft>
              <a:defRPr sz="1400">
                <a:latin typeface="微软雅黑" panose="020B0503020204020204" charset="-122"/>
              </a:defRPr>
            </a:pPr>
            <a:r>
              <a:t>模型容量越大不一定越好，需要正则化与学习率匹配</a:t>
            </a:r>
          </a:p>
        </p:txBody>
      </p:sp>
      <p:pic>
        <p:nvPicPr>
          <p:cNvPr id="5" name="Picture 4" descr="two_layer_config_compariso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99050" y="1253490"/>
            <a:ext cx="6650990" cy="423291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286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F6F82"/>
                </a:solidFill>
                <a:latin typeface="微软雅黑" panose="020B0503020204020204" charset="-122"/>
              </a:rPr>
              <a:t>COMPARISON</a:t>
            </a:r>
            <a:endParaRPr sz="900" b="1">
              <a:solidFill>
                <a:srgbClr val="5F6F82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424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E2328"/>
                </a:solidFill>
                <a:latin typeface="微软雅黑" panose="020B0503020204020204" charset="-122"/>
              </a:rPr>
              <a:t>模型对比：TwoLayerNet 在 raw pixels 上领先</a:t>
            </a:r>
            <a:endParaRPr sz="2400" b="1">
              <a:solidFill>
                <a:srgbClr val="1E2328"/>
              </a:solidFill>
              <a:latin typeface="微软雅黑" panose="020B0503020204020204" charset="-122"/>
            </a:endParaRPr>
          </a:p>
        </p:txBody>
      </p:sp>
      <p:pic>
        <p:nvPicPr>
          <p:cNvPr id="4" name="Picture 3" descr="model_test_accuracy_compariso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143000"/>
            <a:ext cx="1060704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286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F6F82"/>
                </a:solidFill>
                <a:latin typeface="微软雅黑" panose="020B0503020204020204" charset="-122"/>
              </a:rPr>
              <a:t>SCALE EFFECT</a:t>
            </a:r>
            <a:endParaRPr sz="900" b="1">
              <a:solidFill>
                <a:srgbClr val="5F6F82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424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E2328"/>
                </a:solidFill>
                <a:latin typeface="微软雅黑" panose="020B0503020204020204" charset="-122"/>
              </a:rPr>
              <a:t>数据规模影响：线性与非线性模型更能利用更多数据</a:t>
            </a:r>
            <a:endParaRPr sz="2400" b="1">
              <a:solidFill>
                <a:srgbClr val="1E2328"/>
              </a:solidFill>
              <a:latin typeface="微软雅黑" panose="020B0503020204020204" charset="-122"/>
            </a:endParaRPr>
          </a:p>
        </p:txBody>
      </p:sp>
      <p:pic>
        <p:nvPicPr>
          <p:cNvPr id="4" name="Picture 3" descr="data_scale_effec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097280"/>
            <a:ext cx="6492240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325880"/>
            <a:ext cx="38404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500">
                <a:latin typeface="微软雅黑" panose="020B0503020204020204" charset="-122"/>
              </a:defRPr>
            </a:pPr>
            <a:r>
              <a:t>kNN：提升有限，瓶颈在像素距离</a:t>
            </a:r>
          </a:p>
          <a:p>
            <a:pPr>
              <a:spcAft>
                <a:spcPts val="800"/>
              </a:spcAft>
              <a:defRPr sz="1500">
                <a:latin typeface="微软雅黑" panose="020B0503020204020204" charset="-122"/>
              </a:defRPr>
            </a:pPr>
            <a:r>
              <a:t>Softmax：更多数据带来稳定小幅提升</a:t>
            </a:r>
          </a:p>
          <a:p>
            <a:pPr>
              <a:spcAft>
                <a:spcPts val="800"/>
              </a:spcAft>
              <a:defRPr sz="1500">
                <a:latin typeface="微软雅黑" panose="020B0503020204020204" charset="-122"/>
              </a:defRPr>
            </a:pPr>
            <a:r>
              <a:t>TwoLayerNet：49k 后突破 0.5 附近</a:t>
            </a:r>
          </a:p>
          <a:p>
            <a:pPr>
              <a:spcAft>
                <a:spcPts val="800"/>
              </a:spcAft>
              <a:defRPr sz="1500">
                <a:latin typeface="微软雅黑" panose="020B0503020204020204" charset="-122"/>
              </a:defRPr>
            </a:pPr>
            <a:r>
              <a:t>测试集波动不替代验证集选模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286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F6F82"/>
                </a:solidFill>
                <a:latin typeface="微软雅黑" panose="020B0503020204020204" charset="-122"/>
              </a:rPr>
              <a:t>DIAGNOSTICS</a:t>
            </a:r>
            <a:endParaRPr sz="900" b="1">
              <a:solidFill>
                <a:srgbClr val="5F6F82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424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E2328"/>
                </a:solidFill>
                <a:latin typeface="微软雅黑" panose="020B0503020204020204" charset="-122"/>
              </a:rPr>
              <a:t>诊断图：loss 下降与类别混淆</a:t>
            </a:r>
            <a:endParaRPr sz="2400" b="1">
              <a:solidFill>
                <a:srgbClr val="1E2328"/>
              </a:solidFill>
              <a:latin typeface="微软雅黑" panose="020B0503020204020204" charset="-122"/>
            </a:endParaRPr>
          </a:p>
        </p:txBody>
      </p:sp>
      <p:pic>
        <p:nvPicPr>
          <p:cNvPr id="4" name="Picture 3" descr="two_layer_loss_curve.png"/>
          <p:cNvPicPr>
            <a:picLocks noChangeAspect="1"/>
          </p:cNvPicPr>
          <p:nvPr/>
        </p:nvPicPr>
        <p:blipFill>
          <a:blip r:embed="rId1"/>
          <a:srcRect t="7168" r="-732"/>
          <a:stretch>
            <a:fillRect/>
          </a:stretch>
        </p:blipFill>
        <p:spPr>
          <a:xfrm>
            <a:off x="685800" y="1219200"/>
            <a:ext cx="5242560" cy="2804160"/>
          </a:xfrm>
          <a:prstGeom prst="rect">
            <a:avLst/>
          </a:prstGeom>
        </p:spPr>
      </p:pic>
      <p:pic>
        <p:nvPicPr>
          <p:cNvPr id="5" name="Picture 4" descr="confusion_matrix_best_model.png"/>
          <p:cNvPicPr>
            <a:picLocks noChangeAspect="1"/>
          </p:cNvPicPr>
          <p:nvPr/>
        </p:nvPicPr>
        <p:blipFill>
          <a:blip r:embed="rId2"/>
          <a:srcRect t="6147" r="-1768"/>
          <a:stretch>
            <a:fillRect/>
          </a:stretch>
        </p:blipFill>
        <p:spPr>
          <a:xfrm>
            <a:off x="6126480" y="1178560"/>
            <a:ext cx="5118100" cy="403352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685800" y="411543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b="1">
                <a:solidFill>
                  <a:srgbClr val="1E2328"/>
                </a:solidFill>
                <a:latin typeface="微软雅黑" panose="020B0503020204020204" charset="-122"/>
                <a:sym typeface="+mn-ea"/>
              </a:rPr>
              <a:t>TwoLayerNet</a:t>
            </a:r>
            <a:r>
              <a:rPr lang="en-US" b="1">
                <a:solidFill>
                  <a:srgbClr val="1E2328"/>
                </a:solidFill>
                <a:latin typeface="微软雅黑" panose="020B0503020204020204" charset="-122"/>
                <a:sym typeface="+mn-ea"/>
              </a:rPr>
              <a:t>-N49000 loss</a:t>
            </a:r>
            <a:r>
              <a:rPr lang="zh-CN" altLang="en-US" b="1">
                <a:solidFill>
                  <a:srgbClr val="1E2328"/>
                </a:solidFill>
                <a:latin typeface="微软雅黑" panose="020B0503020204020204" charset="-122"/>
                <a:sym typeface="+mn-ea"/>
              </a:rPr>
              <a:t>变化</a:t>
            </a:r>
            <a:endParaRPr lang="zh-CN" altLang="en-US" b="1">
              <a:solidFill>
                <a:srgbClr val="1E2328"/>
              </a:solidFill>
              <a:latin typeface="微软雅黑" panose="020B0503020204020204" charset="-122"/>
              <a:sym typeface="+mn-ea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193155" y="539432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b="1">
                <a:solidFill>
                  <a:srgbClr val="1E2328"/>
                </a:solidFill>
                <a:latin typeface="微软雅黑" panose="020B0503020204020204" charset="-122"/>
                <a:sym typeface="+mn-ea"/>
              </a:rPr>
              <a:t>TwoLayerNet</a:t>
            </a:r>
            <a:r>
              <a:rPr lang="en-US" b="1">
                <a:solidFill>
                  <a:srgbClr val="1E2328"/>
                </a:solidFill>
                <a:latin typeface="微软雅黑" panose="020B0503020204020204" charset="-122"/>
                <a:sym typeface="+mn-ea"/>
              </a:rPr>
              <a:t>-1000 </a:t>
            </a:r>
            <a:r>
              <a:rPr lang="zh-CN" altLang="en-US" b="1">
                <a:solidFill>
                  <a:srgbClr val="1E2328"/>
                </a:solidFill>
                <a:latin typeface="微软雅黑" panose="020B0503020204020204" charset="-122"/>
                <a:sym typeface="+mn-ea"/>
              </a:rPr>
              <a:t>混淆</a:t>
            </a:r>
            <a:r>
              <a:rPr lang="zh-CN" altLang="en-US" b="1">
                <a:solidFill>
                  <a:srgbClr val="1E2328"/>
                </a:solidFill>
                <a:latin typeface="微软雅黑" panose="020B0503020204020204" charset="-122"/>
                <a:sym typeface="+mn-ea"/>
              </a:rPr>
              <a:t>矩阵</a:t>
            </a:r>
            <a:endParaRPr lang="zh-CN" altLang="en-US" b="1">
              <a:solidFill>
                <a:srgbClr val="1E2328"/>
              </a:solidFill>
              <a:latin typeface="微软雅黑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286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F6F82"/>
                </a:solidFill>
                <a:latin typeface="微软雅黑" panose="020B0503020204020204" charset="-122"/>
              </a:rPr>
              <a:t>BEST MODEL</a:t>
            </a:r>
            <a:endParaRPr sz="900" b="1">
              <a:solidFill>
                <a:srgbClr val="5F6F82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424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E2328"/>
                </a:solidFill>
                <a:latin typeface="微软雅黑" panose="020B0503020204020204" charset="-122"/>
              </a:rPr>
              <a:t>最佳模型：TwoLayerNet 是本轮复现的主结果</a:t>
            </a:r>
            <a:endParaRPr sz="2400" b="1">
              <a:solidFill>
                <a:srgbClr val="1E2328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4241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>
                <a:latin typeface="微软雅黑" panose="020B0503020204020204" charset="-122"/>
              </a:defRPr>
            </a:pPr>
            <a:r>
              <a:t>按 validation：N49000 TwoLayerNet cfg4，val=0.515, test=0.493</a:t>
            </a:r>
          </a:p>
          <a:p>
            <a:pPr>
              <a:spcAft>
                <a:spcPts val="800"/>
              </a:spcAft>
              <a:defRPr sz="1600">
                <a:latin typeface="微软雅黑" panose="020B0503020204020204" charset="-122"/>
              </a:defRPr>
            </a:pPr>
            <a:r>
              <a:t>按 test：部分配置测试准确率可到 0.510，但应以验证集选模</a:t>
            </a:r>
          </a:p>
          <a:p>
            <a:pPr>
              <a:spcAft>
                <a:spcPts val="800"/>
              </a:spcAft>
              <a:defRPr sz="1600">
                <a:latin typeface="微软雅黑" panose="020B0503020204020204" charset="-122"/>
              </a:defRPr>
            </a:pPr>
            <a:r>
              <a:t>Softmax 最佳 test=0.359</a:t>
            </a:r>
          </a:p>
          <a:p>
            <a:pPr>
              <a:spcAft>
                <a:spcPts val="800"/>
              </a:spcAft>
              <a:defRPr sz="1600">
                <a:latin typeface="微软雅黑" panose="020B0503020204020204" charset="-122"/>
              </a:defRPr>
            </a:pPr>
            <a:r>
              <a:t>kNN 最佳 test=0.348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286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F6F82"/>
                </a:solidFill>
                <a:latin typeface="微软雅黑" panose="020B0503020204020204" charset="-122"/>
              </a:rPr>
              <a:t>TAKEAWAYS</a:t>
            </a:r>
            <a:endParaRPr sz="900" b="1">
              <a:solidFill>
                <a:srgbClr val="5F6F82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424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E2328"/>
                </a:solidFill>
                <a:latin typeface="微软雅黑" panose="020B0503020204020204" charset="-122"/>
              </a:rPr>
              <a:t>关键学习收获</a:t>
            </a:r>
            <a:endParaRPr sz="2400" b="1">
              <a:solidFill>
                <a:srgbClr val="1E2328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4241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>
                <a:latin typeface="微软雅黑" panose="020B0503020204020204" charset="-122"/>
              </a:defRPr>
            </a:pPr>
            <a:r>
              <a:t>图像分类 pipeline 的核心是数据划分 + 训练 + 验证调参 + 测试评估</a:t>
            </a:r>
          </a:p>
          <a:p>
            <a:pPr>
              <a:spcAft>
                <a:spcPts val="800"/>
              </a:spcAft>
              <a:defRPr sz="1600">
                <a:latin typeface="微软雅黑" panose="020B0503020204020204" charset="-122"/>
              </a:defRPr>
            </a:pPr>
            <a:r>
              <a:t>向量化 NumPy 实现决定了实验能否高效运行</a:t>
            </a:r>
          </a:p>
          <a:p>
            <a:pPr>
              <a:spcAft>
                <a:spcPts val="800"/>
              </a:spcAft>
              <a:defRPr sz="1600">
                <a:latin typeface="微软雅黑" panose="020B0503020204020204" charset="-122"/>
              </a:defRPr>
            </a:pPr>
            <a:r>
              <a:t>正则化和学习率会直接决定泛化性能</a:t>
            </a:r>
          </a:p>
          <a:p>
            <a:pPr>
              <a:spcAft>
                <a:spcPts val="800"/>
              </a:spcAft>
              <a:defRPr sz="1600">
                <a:latin typeface="微软雅黑" panose="020B0503020204020204" charset="-122"/>
              </a:defRPr>
            </a:pPr>
            <a:r>
              <a:t>raw pixels 能跑通流程，但不是好的视觉表示</a:t>
            </a:r>
          </a:p>
          <a:p>
            <a:pPr>
              <a:spcAft>
                <a:spcPts val="800"/>
              </a:spcAft>
              <a:defRPr sz="1600">
                <a:latin typeface="微软雅黑" panose="020B0503020204020204" charset="-122"/>
              </a:defRPr>
            </a:pPr>
            <a:r>
              <a:t>非线性模型明显优于线性模型，但还不是 CNN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286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F6F82"/>
                </a:solidFill>
                <a:latin typeface="微软雅黑" panose="020B0503020204020204" charset="-122"/>
              </a:rPr>
              <a:t>LIMITS</a:t>
            </a:r>
            <a:endParaRPr sz="900" b="1">
              <a:solidFill>
                <a:srgbClr val="5F6F82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9230995" cy="4603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E2328"/>
                </a:solidFill>
                <a:latin typeface="微软雅黑" panose="020B0503020204020204" charset="-122"/>
              </a:rPr>
              <a:t>当前局限：还没有进入真正强的图像表示</a:t>
            </a:r>
            <a:r>
              <a:rPr lang="zh-CN" sz="2400" b="1">
                <a:solidFill>
                  <a:srgbClr val="1E2328"/>
                </a:solidFill>
                <a:latin typeface="微软雅黑" panose="020B0503020204020204" charset="-122"/>
              </a:rPr>
              <a:t>（</a:t>
            </a:r>
            <a:r>
              <a:rPr lang="en-US" altLang="zh-CN" sz="2400" b="1">
                <a:solidFill>
                  <a:srgbClr val="1E2328"/>
                </a:solidFill>
                <a:latin typeface="微软雅黑" panose="020B0503020204020204" charset="-122"/>
              </a:rPr>
              <a:t>ASSIGNMENT2</a:t>
            </a:r>
            <a:r>
              <a:rPr lang="zh-CN" altLang="en-US" sz="2400" b="1">
                <a:solidFill>
                  <a:srgbClr val="1E2328"/>
                </a:solidFill>
                <a:latin typeface="微软雅黑" panose="020B0503020204020204" charset="-122"/>
              </a:rPr>
              <a:t>作业</a:t>
            </a:r>
            <a:r>
              <a:rPr lang="zh-CN" sz="2400" b="1">
                <a:solidFill>
                  <a:srgbClr val="1E2328"/>
                </a:solidFill>
                <a:latin typeface="微软雅黑" panose="020B0503020204020204" charset="-122"/>
              </a:rPr>
              <a:t>）</a:t>
            </a:r>
            <a:endParaRPr lang="zh-CN" sz="2400" b="1">
              <a:solidFill>
                <a:srgbClr val="1E2328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4241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>
                <a:latin typeface="微软雅黑" panose="020B0503020204020204" charset="-122"/>
              </a:defRPr>
            </a:pPr>
            <a:r>
              <a:t>已补跑 HOG / color histogram features</a:t>
            </a:r>
          </a:p>
          <a:p>
            <a:pPr>
              <a:spcAft>
                <a:spcPts val="800"/>
              </a:spcAft>
              <a:defRPr sz="1600">
                <a:latin typeface="微软雅黑" panose="020B0503020204020204" charset="-122"/>
              </a:defRPr>
            </a:pPr>
            <a:r>
              <a:t>FullyConnectedNet 的 dropout / batch normalization 还未展开</a:t>
            </a:r>
          </a:p>
          <a:p>
            <a:pPr>
              <a:spcAft>
                <a:spcPts val="800"/>
              </a:spcAft>
              <a:defRPr sz="1600">
                <a:latin typeface="微软雅黑" panose="020B0503020204020204" charset="-122"/>
              </a:defRPr>
            </a:pPr>
            <a:r>
              <a:t>测试集使用 1,000 张快速评估，后续可扩到完整 10,000 张</a:t>
            </a:r>
          </a:p>
          <a:p>
            <a:pPr>
              <a:spcAft>
                <a:spcPts val="800"/>
              </a:spcAft>
              <a:defRPr sz="1600">
                <a:latin typeface="微软雅黑" panose="020B0503020204020204" charset="-122"/>
              </a:defRPr>
            </a:pPr>
            <a:r>
              <a:t>未使用 CNN，因此没有利用图像局部空间结构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685800" y="3804285"/>
            <a:ext cx="6096000" cy="16300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>
              <a:spcAft>
                <a:spcPts val="800"/>
              </a:spcAft>
              <a:defRPr sz="1600">
                <a:latin typeface="微软雅黑" panose="020B0503020204020204" charset="-122"/>
              </a:defRPr>
            </a:pPr>
            <a:r>
              <a:rPr>
                <a:sym typeface="+mn-ea"/>
              </a:rPr>
              <a:t>1. features.ipynb 已补跑：HOG + color histogram</a:t>
            </a:r>
            <a:endParaRPr>
              <a:sym typeface="+mn-ea"/>
            </a:endParaRPr>
          </a:p>
          <a:p>
            <a:pPr>
              <a:spcAft>
                <a:spcPts val="800"/>
              </a:spcAft>
              <a:defRPr sz="1600">
                <a:latin typeface="微软雅黑" panose="020B0503020204020204" charset="-122"/>
              </a:defRPr>
            </a:pPr>
            <a:r>
              <a:rPr>
                <a:sym typeface="+mn-ea"/>
              </a:rPr>
              <a:t>2. 跑 FullyConnectedNets.ipynb：多层网络、Dropout、BatchNorm</a:t>
            </a:r>
            <a:endParaRPr>
              <a:sym typeface="+mn-ea"/>
            </a:endParaRPr>
          </a:p>
          <a:p>
            <a:pPr>
              <a:spcAft>
                <a:spcPts val="800"/>
              </a:spcAft>
              <a:defRPr sz="1600">
                <a:latin typeface="微软雅黑" panose="020B0503020204020204" charset="-122"/>
              </a:defRPr>
            </a:pPr>
            <a:r>
              <a:rPr>
                <a:sym typeface="+mn-ea"/>
              </a:rPr>
              <a:t>3. 扩大 TwoLayerNet epoch 与更细调参</a:t>
            </a:r>
            <a:endParaRPr>
              <a:sym typeface="+mn-ea"/>
            </a:endParaRPr>
          </a:p>
          <a:p>
            <a:pPr>
              <a:spcAft>
                <a:spcPts val="800"/>
              </a:spcAft>
              <a:defRPr sz="1600">
                <a:latin typeface="微软雅黑" panose="020B0503020204020204" charset="-122"/>
              </a:defRPr>
            </a:pPr>
            <a:r>
              <a:rPr>
                <a:sym typeface="+mn-ea"/>
              </a:rPr>
              <a:t>4. 进入 CNN：利用局部感受野和权重共享</a:t>
            </a:r>
            <a:endParaRPr lang="zh-CN" altLang="en-US">
              <a:sym typeface="+mn-ea"/>
            </a:endParaRPr>
          </a:p>
        </p:txBody>
      </p:sp>
      <p:sp>
        <p:nvSpPr>
          <p:cNvPr id="6" name="TextBox 2"/>
          <p:cNvSpPr txBox="1"/>
          <p:nvPr/>
        </p:nvSpPr>
        <p:spPr>
          <a:xfrm>
            <a:off x="502920" y="3177540"/>
            <a:ext cx="10424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E2328"/>
                </a:solidFill>
                <a:latin typeface="微软雅黑" panose="020B0503020204020204" charset="-122"/>
              </a:rPr>
              <a:t>下一步计划：从 A1 走向更强模型</a:t>
            </a:r>
            <a:endParaRPr sz="2400" b="1">
              <a:solidFill>
                <a:srgbClr val="1E232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560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F6F82"/>
                </a:solidFill>
                <a:latin typeface="Microsoft YaHei"/>
              </a:rPr>
              <a:t>IMAGE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E2328"/>
                </a:solidFill>
                <a:latin typeface="Microsoft YaHei"/>
              </a:rPr>
              <a:t>补充实验：HOG + Color Histogram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466344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500">
                <a:latin typeface="Microsoft YaHei"/>
              </a:defRPr>
            </a:pPr>
            <a:r>
              <a:t>A1 后半部分要求比较 raw pixels 与 higher-level representations</a:t>
            </a:r>
          </a:p>
          <a:p>
            <a:pPr>
              <a:spcAft>
                <a:spcPts val="800"/>
              </a:spcAft>
              <a:defRPr sz="1500">
                <a:latin typeface="Microsoft YaHei"/>
              </a:defRPr>
            </a:pPr>
            <a:r>
              <a:t>本次提取 HOG + HSV color histogram，特征维度 154</a:t>
            </a:r>
          </a:p>
          <a:p>
            <a:pPr>
              <a:spcAft>
                <a:spcPts val="800"/>
              </a:spcAft>
              <a:defRPr sz="1500">
                <a:latin typeface="Microsoft YaHei"/>
              </a:defRPr>
            </a:pPr>
            <a:r>
              <a:t>HOG 关注边缘和梯度方向，color histogram 关注颜色分布</a:t>
            </a:r>
          </a:p>
          <a:p>
            <a:pPr>
              <a:spcAft>
                <a:spcPts val="800"/>
              </a:spcAft>
              <a:defRPr sz="1500">
                <a:latin typeface="Microsoft YaHei"/>
              </a:defRPr>
            </a:pPr>
            <a:r>
              <a:t>这一步不是换模型，而是换输入表示</a:t>
            </a:r>
          </a:p>
        </p:txBody>
      </p:sp>
      <p:pic>
        <p:nvPicPr>
          <p:cNvPr id="5" name="Picture 4" descr="feature_vs_raw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097280"/>
            <a:ext cx="585216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560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F6F82"/>
                </a:solidFill>
                <a:latin typeface="Microsoft YaHei"/>
              </a:rPr>
              <a:t>FEATURE 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E2328"/>
                </a:solidFill>
                <a:latin typeface="Microsoft YaHei"/>
              </a:rPr>
              <a:t>特征版模型调参结果</a:t>
            </a:r>
          </a:p>
        </p:txBody>
      </p:sp>
      <p:pic>
        <p:nvPicPr>
          <p:cNvPr id="4" name="Picture 3" descr="features_softmax_hyperparam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51560"/>
            <a:ext cx="5303520" cy="3840480"/>
          </a:xfrm>
          <a:prstGeom prst="rect">
            <a:avLst/>
          </a:prstGeom>
        </p:spPr>
      </p:pic>
      <p:pic>
        <p:nvPicPr>
          <p:cNvPr id="5" name="Picture 4" descr="features_twolayer_config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051560"/>
            <a:ext cx="5486400" cy="3840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778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4F8968"/>
                </a:solidFill>
                <a:latin typeface="Microsoft YaHei"/>
              </a:rPr>
              <a:t>Best feature TwoLayerNet: val=0.605, test=0.576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5603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F6F82"/>
                </a:solidFill>
                <a:latin typeface="Microsoft YaHei"/>
              </a:rPr>
              <a:t>UPDATED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E2328"/>
                </a:solidFill>
                <a:latin typeface="Microsoft YaHei"/>
              </a:rPr>
              <a:t>更新后的 Week5 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4241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latin typeface="Microsoft YaHei"/>
              </a:defRPr>
            </a:pPr>
            <a:r>
              <a:t>Softmax: raw pixels 0.359 -&gt; features 0.420</a:t>
            </a:r>
          </a:p>
          <a:p>
            <a:pPr>
              <a:spcAft>
                <a:spcPts val="800"/>
              </a:spcAft>
              <a:defRPr sz="1800">
                <a:latin typeface="Microsoft YaHei"/>
              </a:defRPr>
            </a:pPr>
            <a:r>
              <a:t>TwoLayerNet: raw pixels 0.493 -&gt; features 0.576</a:t>
            </a:r>
          </a:p>
          <a:p>
            <a:pPr>
              <a:spcAft>
                <a:spcPts val="800"/>
              </a:spcAft>
              <a:defRPr sz="1800">
                <a:latin typeface="Microsoft YaHei"/>
              </a:defRPr>
            </a:pPr>
            <a:r>
              <a:t>手工图像特征能显著提升传统分类器，因为它更接近边缘、颜色、轮廓等视觉语义</a:t>
            </a:r>
          </a:p>
          <a:p>
            <a:pPr>
              <a:spcAft>
                <a:spcPts val="800"/>
              </a:spcAft>
              <a:defRPr sz="1800">
                <a:latin typeface="Microsoft YaHei"/>
              </a:defRPr>
            </a:pPr>
            <a:r>
              <a:t>CNN 后续要学习的事情，本质上就是自动学习比 HOG 更强的局部图像特征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1726</Words>
  <Application>WPS 演示</Application>
  <PresentationFormat>On-screen Show (4:3)</PresentationFormat>
  <Paragraphs>115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0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星河</cp:lastModifiedBy>
  <cp:revision>3</cp:revision>
  <dcterms:created xsi:type="dcterms:W3CDTF">2013-01-27T09:14:00Z</dcterms:created>
  <dcterms:modified xsi:type="dcterms:W3CDTF">2026-06-07T08:31:59Z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8A251358FD9044F499E0371AF74EABDC_12</vt:lpwstr>
  </property>
  <property fmtid="{D5CDD505-2E9C-101B-9397-08002B2CF9AE}" pid="3" name="KSOProductBuildVer">
    <vt:lpwstr>2052-12.1.0.23542</vt:lpwstr>
  </property>
</Properties>
</file>